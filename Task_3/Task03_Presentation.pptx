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0765" autoAdjust="0"/>
  </p:normalViewPr>
  <p:slideViewPr>
    <p:cSldViewPr snapToGrid="0" showGuides="1">
      <p:cViewPr varScale="1">
        <p:scale>
          <a:sx n="80" d="100"/>
          <a:sy n="80" d="100"/>
        </p:scale>
        <p:origin x="1075" y="67"/>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27/06/2026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84607" y="1735687"/>
            <a:ext cx="7580989" cy="824400"/>
          </a:xfrm>
          <a:prstGeom prst="rect">
            <a:avLst/>
          </a:prstGeom>
          <a:noFill/>
        </p:spPr>
        <p:txBody>
          <a:bodyPr wrap="square" lIns="0" tIns="0" rIns="0" bIns="0" rtlCol="0" anchor="t">
            <a:noAutofit/>
          </a:bodyPr>
          <a:lstStyle/>
          <a:p>
            <a:r>
              <a:rPr lang="en-IN" sz="1200" dirty="0" err="1"/>
              <a:t>Analyzed</a:t>
            </a:r>
            <a:r>
              <a:rPr lang="en-IN" sz="1200" dirty="0"/>
              <a:t> the Chips category to understand overall sales performance, customer purchasing behaviour, and key customer segments. Identified the customer groups contributing the highest sales and examined the impact of life stage and premium customer segments on purchasing patterns. These insights help identify the most valuable customer segments for future marketing and business strategies.</a:t>
            </a:r>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6" y="3926266"/>
            <a:ext cx="7580989" cy="824400"/>
          </a:xfrm>
          <a:prstGeom prst="rect">
            <a:avLst/>
          </a:prstGeom>
          <a:noFill/>
        </p:spPr>
        <p:txBody>
          <a:bodyPr wrap="square" lIns="0" tIns="0" rIns="0" bIns="0" rtlCol="0" anchor="t">
            <a:noAutofit/>
          </a:bodyPr>
          <a:lstStyle/>
          <a:p>
            <a:r>
              <a:rPr lang="en-IN" sz="1200" dirty="0"/>
              <a:t>Evaluated the effectiveness of the in-store trial by selecting suitable control stores and comparing their performance with the trial stores. The analysis measured changes in sales, customer numbers, and transaction behaviour during the trial period. Results showed that </a:t>
            </a:r>
            <a:r>
              <a:rPr lang="en-IN" sz="1200" b="1" dirty="0"/>
              <a:t>Store 77 (Trial)</a:t>
            </a:r>
            <a:r>
              <a:rPr lang="en-IN" sz="1200" dirty="0"/>
              <a:t> delivered the strongest positive impact, while </a:t>
            </a:r>
            <a:r>
              <a:rPr lang="en-IN" sz="1200" b="1" dirty="0"/>
              <a:t>Store 86 (Trial)</a:t>
            </a:r>
            <a:r>
              <a:rPr lang="en-IN" sz="1200" dirty="0"/>
              <a:t> showed moderate improvement and </a:t>
            </a:r>
            <a:r>
              <a:rPr lang="en-IN" sz="1200" b="1" dirty="0"/>
              <a:t>Store 88 (Trial)</a:t>
            </a:r>
            <a:r>
              <a:rPr lang="en-IN" sz="1200" dirty="0"/>
              <a:t> demonstrated limited impact.</a:t>
            </a:r>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a:xfrm>
            <a:off x="744719" y="400050"/>
            <a:ext cx="11447282" cy="971550"/>
          </a:xfrm>
        </p:spPr>
        <p:txBody>
          <a:bodyPr/>
          <a:lstStyle/>
          <a:p>
            <a:r>
              <a:rPr lang="en-AU" sz="6600" dirty="0"/>
              <a:t>01 </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438823" y="207389"/>
            <a:ext cx="1993565" cy="1639966"/>
          </a:xfrm>
          <a:prstGeom prst="rect">
            <a:avLst/>
          </a:prstGeom>
        </p:spPr>
      </p:pic>
      <p:pic>
        <p:nvPicPr>
          <p:cNvPr id="11" name="Picture 10">
            <a:extLst>
              <a:ext uri="{FF2B5EF4-FFF2-40B4-BE49-F238E27FC236}">
                <a16:creationId xmlns:a16="http://schemas.microsoft.com/office/drawing/2014/main" id="{0F06827D-A07D-BCE6-77FC-22C91B19D965}"/>
              </a:ext>
            </a:extLst>
          </p:cNvPr>
          <p:cNvPicPr>
            <a:picLocks noChangeAspect="1"/>
          </p:cNvPicPr>
          <p:nvPr/>
        </p:nvPicPr>
        <p:blipFill>
          <a:blip r:embed="rId3"/>
          <a:stretch>
            <a:fillRect/>
          </a:stretch>
        </p:blipFill>
        <p:spPr>
          <a:xfrm>
            <a:off x="744718" y="1567954"/>
            <a:ext cx="5844927" cy="4295518"/>
          </a:xfrm>
          <a:prstGeom prst="rect">
            <a:avLst/>
          </a:prstGeom>
        </p:spPr>
      </p:pic>
      <p:sp>
        <p:nvSpPr>
          <p:cNvPr id="13" name="TextBox 12">
            <a:extLst>
              <a:ext uri="{FF2B5EF4-FFF2-40B4-BE49-F238E27FC236}">
                <a16:creationId xmlns:a16="http://schemas.microsoft.com/office/drawing/2014/main" id="{C0BC8721-2B22-AC1D-D934-6E9BE300A71C}"/>
              </a:ext>
            </a:extLst>
          </p:cNvPr>
          <p:cNvSpPr txBox="1"/>
          <p:nvPr/>
        </p:nvSpPr>
        <p:spPr>
          <a:xfrm>
            <a:off x="6589645" y="2146052"/>
            <a:ext cx="5849178" cy="3139321"/>
          </a:xfrm>
          <a:prstGeom prst="rect">
            <a:avLst/>
          </a:prstGeom>
          <a:noFill/>
        </p:spPr>
        <p:txBody>
          <a:bodyPr wrap="square">
            <a:spAutoFit/>
          </a:bodyPr>
          <a:lstStyle/>
          <a:p>
            <a:pPr>
              <a:buNone/>
            </a:pPr>
            <a:r>
              <a:rPr lang="en-IN" b="1" dirty="0"/>
              <a:t>Key Insights:</a:t>
            </a:r>
          </a:p>
          <a:p>
            <a:pPr>
              <a:buNone/>
            </a:pPr>
            <a:endParaRPr lang="en-IN" b="1" dirty="0"/>
          </a:p>
          <a:p>
            <a:pPr>
              <a:buNone/>
            </a:pPr>
            <a:r>
              <a:rPr lang="en-IN" b="1" dirty="0"/>
              <a:t>•</a:t>
            </a:r>
            <a:r>
              <a:rPr lang="en-IN" dirty="0"/>
              <a:t> Monthly chip sales remained relatively stable throughout the analysis period, indicating consistent customer demand.</a:t>
            </a:r>
          </a:p>
          <a:p>
            <a:pPr>
              <a:buNone/>
            </a:pPr>
            <a:r>
              <a:rPr lang="en-IN" b="1" dirty="0"/>
              <a:t>•</a:t>
            </a:r>
            <a:r>
              <a:rPr lang="en-IN" dirty="0"/>
              <a:t> Category sales peaked in </a:t>
            </a:r>
            <a:r>
              <a:rPr lang="en-IN" b="1" dirty="0"/>
              <a:t>December 2018</a:t>
            </a:r>
            <a:r>
              <a:rPr lang="en-IN" dirty="0"/>
              <a:t>, while a temporary sales dip was observed in </a:t>
            </a:r>
            <a:r>
              <a:rPr lang="en-IN" b="1" dirty="0"/>
              <a:t>February 2019</a:t>
            </a:r>
            <a:r>
              <a:rPr lang="en-IN" dirty="0"/>
              <a:t>, before recovering in </a:t>
            </a:r>
            <a:r>
              <a:rPr lang="en-IN" b="1" dirty="0"/>
              <a:t>March 2019</a:t>
            </a:r>
            <a:r>
              <a:rPr lang="en-IN" dirty="0"/>
              <a:t>.</a:t>
            </a:r>
          </a:p>
          <a:p>
            <a:pPr>
              <a:buNone/>
            </a:pPr>
            <a:r>
              <a:rPr lang="en-IN" b="1" dirty="0"/>
              <a:t>•</a:t>
            </a:r>
            <a:r>
              <a:rPr lang="en-IN" dirty="0"/>
              <a:t> The overall sales trend suggests short-term seasonal fluctuations rather than a sustained decline in category performance.</a:t>
            </a:r>
          </a:p>
        </p:txBody>
      </p:sp>
      <p:sp>
        <p:nvSpPr>
          <p:cNvPr id="20" name="Text Placeholder 19">
            <a:extLst>
              <a:ext uri="{FF2B5EF4-FFF2-40B4-BE49-F238E27FC236}">
                <a16:creationId xmlns:a16="http://schemas.microsoft.com/office/drawing/2014/main" id="{AF95AD6E-7DBE-397F-E18C-2E4E3DE8C147}"/>
              </a:ext>
            </a:extLst>
          </p:cNvPr>
          <p:cNvSpPr>
            <a:spLocks noGrp="1"/>
          </p:cNvSpPr>
          <p:nvPr>
            <p:ph type="body" sz="quarter" idx="10"/>
          </p:nvPr>
        </p:nvSpPr>
        <p:spPr>
          <a:xfrm>
            <a:off x="1196975" y="78216"/>
            <a:ext cx="10479600" cy="824400"/>
          </a:xfrm>
        </p:spPr>
        <p:txBody>
          <a:bodyPr/>
          <a:lstStyle/>
          <a:p>
            <a:r>
              <a:rPr lang="en-IN" sz="1600" b="1" dirty="0"/>
              <a:t>Category Overview:</a:t>
            </a:r>
          </a:p>
          <a:p>
            <a:endParaRPr lang="en-IN" sz="1600" dirty="0"/>
          </a:p>
          <a:p>
            <a:r>
              <a:rPr lang="en-IN" sz="1600" dirty="0"/>
              <a:t>The chips category demonstrated stable sales throughout the year, with only a temporary decline in February 2019.</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5" name="Text Placeholder 4">
            <a:extLst>
              <a:ext uri="{FF2B5EF4-FFF2-40B4-BE49-F238E27FC236}">
                <a16:creationId xmlns:a16="http://schemas.microsoft.com/office/drawing/2014/main" id="{37048BBF-8046-4144-C6F4-3830CEA978B9}"/>
              </a:ext>
            </a:extLst>
          </p:cNvPr>
          <p:cNvSpPr>
            <a:spLocks noGrp="1"/>
          </p:cNvSpPr>
          <p:nvPr>
            <p:ph type="body" sz="quarter" idx="10"/>
          </p:nvPr>
        </p:nvSpPr>
        <p:spPr>
          <a:xfrm>
            <a:off x="763342" y="0"/>
            <a:ext cx="11428658" cy="2233185"/>
          </a:xfrm>
        </p:spPr>
        <p:txBody>
          <a:bodyPr/>
          <a:lstStyle/>
          <a:p>
            <a:r>
              <a:rPr lang="en-IN" sz="2000" b="1" dirty="0"/>
              <a:t>Affluence and Consumer Buying behaviour</a:t>
            </a:r>
          </a:p>
          <a:p>
            <a:endParaRPr lang="en-IN" sz="2000" b="1" dirty="0"/>
          </a:p>
          <a:p>
            <a:r>
              <a:rPr lang="en-IN" sz="2000" dirty="0"/>
              <a:t>  Mainstream customers consistently generate the highest chip sales across most customer groups.</a:t>
            </a:r>
          </a:p>
        </p:txBody>
      </p:sp>
      <p:pic>
        <p:nvPicPr>
          <p:cNvPr id="8" name="Picture 7">
            <a:extLst>
              <a:ext uri="{FF2B5EF4-FFF2-40B4-BE49-F238E27FC236}">
                <a16:creationId xmlns:a16="http://schemas.microsoft.com/office/drawing/2014/main" id="{BB7E0856-855E-F3CD-CE47-D559137FA095}"/>
              </a:ext>
            </a:extLst>
          </p:cNvPr>
          <p:cNvPicPr>
            <a:picLocks noChangeAspect="1"/>
          </p:cNvPicPr>
          <p:nvPr/>
        </p:nvPicPr>
        <p:blipFill>
          <a:blip r:embed="rId3"/>
          <a:stretch>
            <a:fillRect/>
          </a:stretch>
        </p:blipFill>
        <p:spPr>
          <a:xfrm>
            <a:off x="763342" y="2374588"/>
            <a:ext cx="4957673" cy="3817418"/>
          </a:xfrm>
          <a:prstGeom prst="rect">
            <a:avLst/>
          </a:prstGeom>
        </p:spPr>
      </p:pic>
      <p:pic>
        <p:nvPicPr>
          <p:cNvPr id="10" name="Picture 9">
            <a:extLst>
              <a:ext uri="{FF2B5EF4-FFF2-40B4-BE49-F238E27FC236}">
                <a16:creationId xmlns:a16="http://schemas.microsoft.com/office/drawing/2014/main" id="{187B1BC2-BD1D-1BBD-F495-3FA62CC77EB5}"/>
              </a:ext>
            </a:extLst>
          </p:cNvPr>
          <p:cNvPicPr>
            <a:picLocks noChangeAspect="1"/>
          </p:cNvPicPr>
          <p:nvPr/>
        </p:nvPicPr>
        <p:blipFill>
          <a:blip r:embed="rId4"/>
          <a:stretch>
            <a:fillRect/>
          </a:stretch>
        </p:blipFill>
        <p:spPr>
          <a:xfrm>
            <a:off x="5721015" y="2760451"/>
            <a:ext cx="6153770" cy="3045691"/>
          </a:xfrm>
          <a:prstGeom prst="rect">
            <a:avLst/>
          </a:prstGeom>
        </p:spPr>
      </p:pic>
      <p:sp>
        <p:nvSpPr>
          <p:cNvPr id="11" name="TextBox 10">
            <a:extLst>
              <a:ext uri="{FF2B5EF4-FFF2-40B4-BE49-F238E27FC236}">
                <a16:creationId xmlns:a16="http://schemas.microsoft.com/office/drawing/2014/main" id="{170DD5E2-5ABE-A2B4-4F40-602D31BDF0D1}"/>
              </a:ext>
            </a:extLst>
          </p:cNvPr>
          <p:cNvSpPr txBox="1"/>
          <p:nvPr/>
        </p:nvSpPr>
        <p:spPr>
          <a:xfrm>
            <a:off x="898733" y="1381654"/>
            <a:ext cx="2818614" cy="414779"/>
          </a:xfrm>
          <a:prstGeom prst="rect">
            <a:avLst/>
          </a:prstGeom>
          <a:noFill/>
        </p:spPr>
        <p:txBody>
          <a:bodyPr wrap="square" lIns="0" tIns="0" rIns="0" bIns="0" rtlCol="0" anchor="t">
            <a:noAutofit/>
          </a:bodyPr>
          <a:lstStyle/>
          <a:p>
            <a:r>
              <a:rPr lang="en-IN" sz="1200" dirty="0"/>
              <a:t>Mainstream customers contributed the highest overall chip sales across all affluence segments</a:t>
            </a:r>
            <a:endParaRPr lang="en-IN" sz="1200" dirty="0">
              <a:latin typeface="Roboto Light" panose="02000000000000000000" pitchFamily="2" charset="0"/>
              <a:ea typeface="Roboto Light" panose="02000000000000000000" pitchFamily="2" charset="0"/>
            </a:endParaRPr>
          </a:p>
        </p:txBody>
      </p:sp>
      <p:sp>
        <p:nvSpPr>
          <p:cNvPr id="12" name="TextBox 11">
            <a:extLst>
              <a:ext uri="{FF2B5EF4-FFF2-40B4-BE49-F238E27FC236}">
                <a16:creationId xmlns:a16="http://schemas.microsoft.com/office/drawing/2014/main" id="{5B01CAB9-3C8B-AB64-DDDE-DD48CF394387}"/>
              </a:ext>
            </a:extLst>
          </p:cNvPr>
          <p:cNvSpPr txBox="1"/>
          <p:nvPr/>
        </p:nvSpPr>
        <p:spPr>
          <a:xfrm>
            <a:off x="5068364" y="1381656"/>
            <a:ext cx="2818614" cy="414779"/>
          </a:xfrm>
          <a:prstGeom prst="rect">
            <a:avLst/>
          </a:prstGeom>
          <a:noFill/>
        </p:spPr>
        <p:txBody>
          <a:bodyPr wrap="square" lIns="0" tIns="0" rIns="0" bIns="0" rtlCol="0" anchor="t">
            <a:noAutofit/>
          </a:bodyPr>
          <a:lstStyle/>
          <a:p>
            <a:r>
              <a:rPr lang="en-IN" sz="1200" dirty="0"/>
              <a:t>Purchasing behaviour varies across life stages, with different affluence segments contributing more strongly depending on the customer group</a:t>
            </a:r>
            <a:endParaRPr lang="en-IN" sz="1200" dirty="0">
              <a:latin typeface="Roboto Light" panose="02000000000000000000" pitchFamily="2" charset="0"/>
              <a:ea typeface="Roboto Light" panose="02000000000000000000" pitchFamily="2" charset="0"/>
            </a:endParaRPr>
          </a:p>
        </p:txBody>
      </p:sp>
      <p:sp>
        <p:nvSpPr>
          <p:cNvPr id="13" name="TextBox 12">
            <a:extLst>
              <a:ext uri="{FF2B5EF4-FFF2-40B4-BE49-F238E27FC236}">
                <a16:creationId xmlns:a16="http://schemas.microsoft.com/office/drawing/2014/main" id="{590158D3-CD46-0991-AC9F-9ADAF43000F2}"/>
              </a:ext>
            </a:extLst>
          </p:cNvPr>
          <p:cNvSpPr txBox="1"/>
          <p:nvPr/>
        </p:nvSpPr>
        <p:spPr>
          <a:xfrm>
            <a:off x="8797900" y="1381655"/>
            <a:ext cx="2994736" cy="414779"/>
          </a:xfrm>
          <a:prstGeom prst="rect">
            <a:avLst/>
          </a:prstGeom>
          <a:noFill/>
        </p:spPr>
        <p:txBody>
          <a:bodyPr wrap="square" lIns="0" tIns="0" rIns="0" bIns="0" rtlCol="0" anchor="t">
            <a:noAutofit/>
          </a:bodyPr>
          <a:lstStyle/>
          <a:p>
            <a:r>
              <a:rPr lang="en-IN" sz="1200" dirty="0"/>
              <a:t>Older Families and Young Families generated strong sales across affluence segments, highlighting them as important customer groups for the chips category</a:t>
            </a:r>
            <a:endParaRPr lang="en-IN"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772768" y="0"/>
            <a:ext cx="11331247" cy="1304118"/>
          </a:xfrm>
        </p:spPr>
        <p:txBody>
          <a:bodyPr/>
          <a:lstStyle/>
          <a:p>
            <a:pPr algn="ctr"/>
            <a:r>
              <a:rPr lang="en-IN" sz="2000" dirty="0"/>
              <a:t>Customer Composition by Life Stage and Affluence</a:t>
            </a:r>
          </a:p>
          <a:p>
            <a:endParaRPr lang="en-IN" dirty="0"/>
          </a:p>
          <a:p>
            <a:pPr algn="ctr"/>
            <a:r>
              <a:rPr lang="en-IN" sz="1600" dirty="0">
                <a:latin typeface="+mj-lt"/>
              </a:rPr>
              <a:t>Customer composition differs across life stages, highlighting distinct Budget and Mainstream customer segments.</a:t>
            </a:r>
            <a:endParaRPr lang="en-AU" sz="1600" dirty="0">
              <a:latin typeface="+mj-lt"/>
            </a:endParaRP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C54743F3-F013-AADF-35C2-1C53E822F6EE}"/>
              </a:ext>
            </a:extLst>
          </p:cNvPr>
          <p:cNvPicPr>
            <a:picLocks noChangeAspect="1"/>
          </p:cNvPicPr>
          <p:nvPr/>
        </p:nvPicPr>
        <p:blipFill>
          <a:blip r:embed="rId3"/>
          <a:stretch>
            <a:fillRect/>
          </a:stretch>
        </p:blipFill>
        <p:spPr>
          <a:xfrm>
            <a:off x="1093280" y="1766927"/>
            <a:ext cx="5637459" cy="3786955"/>
          </a:xfrm>
          <a:prstGeom prst="rect">
            <a:avLst/>
          </a:prstGeom>
        </p:spPr>
      </p:pic>
      <p:sp>
        <p:nvSpPr>
          <p:cNvPr id="12" name="TextBox 11">
            <a:extLst>
              <a:ext uri="{FF2B5EF4-FFF2-40B4-BE49-F238E27FC236}">
                <a16:creationId xmlns:a16="http://schemas.microsoft.com/office/drawing/2014/main" id="{653AFF35-EC24-FA3E-C14F-1DCF4C62AC47}"/>
              </a:ext>
            </a:extLst>
          </p:cNvPr>
          <p:cNvSpPr txBox="1"/>
          <p:nvPr/>
        </p:nvSpPr>
        <p:spPr>
          <a:xfrm>
            <a:off x="7338563" y="1766927"/>
            <a:ext cx="4853437" cy="3416320"/>
          </a:xfrm>
          <a:prstGeom prst="rect">
            <a:avLst/>
          </a:prstGeom>
          <a:noFill/>
        </p:spPr>
        <p:txBody>
          <a:bodyPr wrap="square">
            <a:spAutoFit/>
          </a:bodyPr>
          <a:lstStyle/>
          <a:p>
            <a:r>
              <a:rPr lang="en-IN" b="1" dirty="0"/>
              <a:t>Key Insights:</a:t>
            </a:r>
          </a:p>
          <a:p>
            <a:endParaRPr lang="en-IN" b="1" dirty="0"/>
          </a:p>
          <a:p>
            <a:r>
              <a:rPr lang="en-IN" dirty="0"/>
              <a:t>Mainstream customers dominate Young Singles/Couples, </a:t>
            </a:r>
            <a:r>
              <a:rPr lang="en-IN" dirty="0" err="1"/>
              <a:t>Midage</a:t>
            </a:r>
            <a:r>
              <a:rPr lang="en-IN" dirty="0"/>
              <a:t> Singles/Couples and Retirees. </a:t>
            </a:r>
          </a:p>
          <a:p>
            <a:endParaRPr lang="en-IN" dirty="0"/>
          </a:p>
          <a:p>
            <a:r>
              <a:rPr lang="en-IN" dirty="0"/>
              <a:t>Budget customers represent the largest proportion in New, Young and Older Families. </a:t>
            </a:r>
          </a:p>
          <a:p>
            <a:endParaRPr lang="en-IN" dirty="0"/>
          </a:p>
          <a:p>
            <a:r>
              <a:rPr lang="en-IN" dirty="0"/>
              <a:t>Older Singles/Couples are almost evenly distributed across Budget, Mainstream and Premium segments</a:t>
            </a: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5" name="Text Placeholder 4">
            <a:extLst>
              <a:ext uri="{FF2B5EF4-FFF2-40B4-BE49-F238E27FC236}">
                <a16:creationId xmlns:a16="http://schemas.microsoft.com/office/drawing/2014/main" id="{84E44855-CDFB-71AF-59B0-6D5FEC0D8F76}"/>
              </a:ext>
            </a:extLst>
          </p:cNvPr>
          <p:cNvSpPr>
            <a:spLocks noGrp="1"/>
          </p:cNvSpPr>
          <p:nvPr>
            <p:ph type="body" sz="quarter" idx="10"/>
          </p:nvPr>
        </p:nvSpPr>
        <p:spPr>
          <a:xfrm>
            <a:off x="754144" y="453371"/>
            <a:ext cx="11437855" cy="824400"/>
          </a:xfrm>
        </p:spPr>
        <p:txBody>
          <a:bodyPr/>
          <a:lstStyle/>
          <a:p>
            <a:pPr algn="ctr"/>
            <a:r>
              <a:rPr lang="en-IN" dirty="0"/>
              <a:t>Trial Sales Comparison</a:t>
            </a:r>
          </a:p>
          <a:p>
            <a:pPr algn="ctr"/>
            <a:r>
              <a:rPr lang="en-IN" dirty="0"/>
              <a:t>(February 2019 – June 2019)</a:t>
            </a:r>
          </a:p>
          <a:p>
            <a:endParaRPr lang="en-IN" dirty="0"/>
          </a:p>
        </p:txBody>
      </p:sp>
      <p:pic>
        <p:nvPicPr>
          <p:cNvPr id="9" name="Picture 8">
            <a:extLst>
              <a:ext uri="{FF2B5EF4-FFF2-40B4-BE49-F238E27FC236}">
                <a16:creationId xmlns:a16="http://schemas.microsoft.com/office/drawing/2014/main" id="{32EABC5D-6DF8-BB23-FAFB-59D319E1E4A3}"/>
              </a:ext>
            </a:extLst>
          </p:cNvPr>
          <p:cNvPicPr>
            <a:picLocks noChangeAspect="1"/>
          </p:cNvPicPr>
          <p:nvPr/>
        </p:nvPicPr>
        <p:blipFill>
          <a:blip r:embed="rId3"/>
          <a:stretch>
            <a:fillRect/>
          </a:stretch>
        </p:blipFill>
        <p:spPr>
          <a:xfrm>
            <a:off x="1704297" y="2200077"/>
            <a:ext cx="9716856" cy="2838846"/>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Call out of the performance in the trial store, determining if it was successful</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114093AE-BC5A-CA9D-D284-6C1EBBF2E062}"/>
              </a:ext>
            </a:extLst>
          </p:cNvPr>
          <p:cNvPicPr>
            <a:picLocks noChangeAspect="1"/>
          </p:cNvPicPr>
          <p:nvPr/>
        </p:nvPicPr>
        <p:blipFill>
          <a:blip r:embed="rId3"/>
          <a:stretch>
            <a:fillRect/>
          </a:stretch>
        </p:blipFill>
        <p:spPr>
          <a:xfrm>
            <a:off x="1573584" y="2452490"/>
            <a:ext cx="9726382" cy="2829320"/>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6693</TotalTime>
  <Words>656</Words>
  <Application>Microsoft Office PowerPoint</Application>
  <PresentationFormat>Widescreen</PresentationFormat>
  <Paragraphs>58</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Roboto Light</vt:lpstr>
      <vt:lpstr>Roboto</vt:lpstr>
      <vt:lpstr>Calibri</vt:lpstr>
      <vt:lpstr>Roboto Medium</vt:lpstr>
      <vt:lpstr>Office Theme</vt:lpstr>
      <vt:lpstr>Category review: Chips</vt:lpstr>
      <vt:lpstr>PowerPoint Presentation</vt:lpstr>
      <vt:lpstr>PowerPoint Presentation</vt:lpstr>
      <vt:lpstr>01 </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Prashant Chandanshive</cp:lastModifiedBy>
  <cp:revision>467</cp:revision>
  <dcterms:created xsi:type="dcterms:W3CDTF">2018-02-07T23:23:24Z</dcterms:created>
  <dcterms:modified xsi:type="dcterms:W3CDTF">2026-06-27T16:05:16Z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